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94A06E-2BFA-4C19-A662-1591A457BDB2}">
  <a:tblStyle styleId="{DE94A06E-2BFA-4C19-A662-1591A457BDB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195db4da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195db4d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d195db4da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d195db4da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d195db4da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d195db4da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195db4da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d195db4da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d195db4da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d195db4da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d195db4da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d195db4da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 amt="80000"/>
          </a:blip>
          <a:srcRect b="12217" l="0" r="0" t="57225"/>
          <a:stretch/>
        </p:blipFill>
        <p:spPr>
          <a:xfrm>
            <a:off x="0" y="0"/>
            <a:ext cx="9144001" cy="22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-50" y="2334250"/>
            <a:ext cx="9144000" cy="251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1666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2120">
              <a:solidFill>
                <a:srgbClr val="0F1115"/>
              </a:solidFill>
            </a:endParaRPr>
          </a:p>
          <a:p>
            <a:pPr indent="0" lvl="0" marL="0" rtl="0" algn="l">
              <a:lnSpc>
                <a:spcPct val="141666"/>
              </a:lnSpc>
              <a:spcBef>
                <a:spcPts val="2400"/>
              </a:spcBef>
              <a:spcAft>
                <a:spcPts val="0"/>
              </a:spcAft>
              <a:buSzPts val="990"/>
              <a:buNone/>
            </a:pPr>
            <a:r>
              <a:rPr b="1" lang="ru" sz="2180">
                <a:solidFill>
                  <a:srgbClr val="0F1115"/>
                </a:solidFill>
              </a:rPr>
              <a:t>    Аналитический дашборд пиццерии</a:t>
            </a:r>
            <a:r>
              <a:rPr b="1" lang="ru" sz="3320">
                <a:solidFill>
                  <a:srgbClr val="0F1115"/>
                </a:solidFill>
              </a:rPr>
              <a:t>🍕</a:t>
            </a:r>
            <a:endParaRPr b="1" sz="3320">
              <a:solidFill>
                <a:srgbClr val="0F1115"/>
              </a:solidFill>
            </a:endParaRPr>
          </a:p>
          <a:p>
            <a:pPr indent="0" lvl="0" marL="0" rtl="0" algn="l">
              <a:lnSpc>
                <a:spcPct val="141666"/>
              </a:lnSpc>
              <a:spcBef>
                <a:spcPts val="2400"/>
              </a:spcBef>
              <a:spcAft>
                <a:spcPts val="0"/>
              </a:spcAft>
              <a:buSzPts val="990"/>
              <a:buNone/>
            </a:pPr>
            <a:r>
              <a:rPr b="1" lang="ru" sz="1800">
                <a:solidFill>
                  <a:srgbClr val="0F1115"/>
                </a:solidFill>
              </a:rPr>
              <a:t>     Период:</a:t>
            </a:r>
            <a:r>
              <a:rPr lang="ru" sz="1800">
                <a:solidFill>
                  <a:srgbClr val="0F1115"/>
                </a:solidFill>
              </a:rPr>
              <a:t> 27 мая 2025 - 2 июня 2025</a:t>
            </a:r>
            <a:endParaRPr sz="1800">
              <a:solidFill>
                <a:srgbClr val="0F1115"/>
              </a:solidFill>
            </a:endParaRPr>
          </a:p>
          <a:p>
            <a:pPr indent="0" lvl="0" marL="0" rtl="0" algn="l">
              <a:lnSpc>
                <a:spcPct val="141666"/>
              </a:lnSpc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u" sz="1800">
                <a:solidFill>
                  <a:srgbClr val="0F1115"/>
                </a:solidFill>
              </a:rPr>
              <a:t>     Ключевая цель:</a:t>
            </a:r>
            <a:r>
              <a:rPr lang="ru" sz="1800">
                <a:solidFill>
                  <a:srgbClr val="0F1115"/>
                </a:solidFill>
              </a:rPr>
              <a:t> Увеличение выручки на 20% </a:t>
            </a:r>
            <a:br>
              <a:rPr lang="ru" sz="1800">
                <a:solidFill>
                  <a:srgbClr val="0F1115"/>
                </a:solidFill>
              </a:rPr>
            </a:br>
            <a:r>
              <a:rPr lang="ru" sz="1800">
                <a:solidFill>
                  <a:srgbClr val="0F1115"/>
                </a:solidFill>
              </a:rPr>
              <a:t>                                   без привлечения нового трафика.</a:t>
            </a:r>
            <a:r>
              <a:rPr lang="ru" sz="1800"/>
              <a:t> </a:t>
            </a:r>
            <a:endParaRPr b="1" sz="1580">
              <a:solidFill>
                <a:srgbClr val="0F111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734350" y="218450"/>
            <a:ext cx="3675300" cy="47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SzPts val="990"/>
              <a:buNone/>
            </a:pPr>
            <a:r>
              <a:rPr b="1" lang="ru" sz="2000">
                <a:solidFill>
                  <a:srgbClr val="0F1115"/>
                </a:solidFill>
                <a:highlight>
                  <a:srgbClr val="FFFFFF"/>
                </a:highlight>
              </a:rPr>
              <a:t>Ключевые показатели (KPI)</a:t>
            </a:r>
            <a:endParaRPr sz="20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81013" y="1022673"/>
            <a:ext cx="3311700" cy="30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Общая выручка составила </a:t>
            </a: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90 040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рублей.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Средний чек — </a:t>
            </a: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500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рублей.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Всего оформлено </a:t>
            </a: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180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заказов, при этом продано </a:t>
            </a: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281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 позиция. </a:t>
            </a: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В среднем клиент заказывает </a:t>
            </a: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1.5-2 блюда (пицца + напиток)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.</a:t>
            </a:r>
            <a:r>
              <a:rPr lang="ru" sz="1300">
                <a:solidFill>
                  <a:schemeClr val="dk1"/>
                </a:solidFill>
              </a:rPr>
              <a:t> 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79197" l="0" r="0" t="0"/>
          <a:stretch/>
        </p:blipFill>
        <p:spPr>
          <a:xfrm>
            <a:off x="3542375" y="1022673"/>
            <a:ext cx="5520600" cy="644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2375" y="1667198"/>
            <a:ext cx="5520600" cy="2453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734350" y="218450"/>
            <a:ext cx="3675300" cy="47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SzPts val="1100"/>
              <a:buNone/>
            </a:pPr>
            <a:r>
              <a:rPr b="1" lang="ru" sz="2000">
                <a:solidFill>
                  <a:srgbClr val="0F1115"/>
                </a:solidFill>
                <a:highlight>
                  <a:srgbClr val="FFFFFF"/>
                </a:highlight>
              </a:rPr>
              <a:t>Товарная структура и хиты</a:t>
            </a:r>
            <a:endParaRPr b="1" sz="20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81013" y="1022652"/>
            <a:ext cx="3461400" cy="30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Пицца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 — это “сердце” вашего бизнеса</a:t>
            </a:r>
            <a:r>
              <a:rPr lang="ru" sz="1300">
                <a:solidFill>
                  <a:schemeClr val="dk1"/>
                </a:solidFill>
              </a:rPr>
              <a:t>,которое приносит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69% выручки (62 000р.). 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Салаты и десерты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показывают низкую долю (6% и 12%</a:t>
            </a:r>
            <a:r>
              <a:rPr lang="ru" sz="1300">
                <a:solidFill>
                  <a:schemeClr val="dk1"/>
                </a:solidFill>
              </a:rPr>
              <a:t> - это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«зона роста», их долю нужно искусственно поднимать.</a:t>
            </a:r>
            <a:r>
              <a:rPr lang="ru" sz="1300">
                <a:solidFill>
                  <a:schemeClr val="dk1"/>
                </a:solidFill>
              </a:rPr>
              <a:t> 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Топ-3 блюда: «Маргарита», «Пепперони» и Coca-Cola.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Рекомендация: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внедрить акцию Пицца + Десерт для повышения среднего чека.</a:t>
            </a:r>
            <a:r>
              <a:rPr lang="ru" sz="1300">
                <a:solidFill>
                  <a:schemeClr val="dk1"/>
                </a:solidFill>
              </a:rPr>
              <a:t> 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2388" y="1022652"/>
            <a:ext cx="5520600" cy="3098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2388" y="1673474"/>
            <a:ext cx="5520599" cy="1204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690700" y="232043"/>
            <a:ext cx="3762600" cy="47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SzPts val="1100"/>
              <a:buNone/>
            </a:pPr>
            <a:r>
              <a:rPr b="1" lang="ru" sz="2000">
                <a:solidFill>
                  <a:srgbClr val="0F1115"/>
                </a:solidFill>
                <a:highlight>
                  <a:srgbClr val="FFFFFF"/>
                </a:highlight>
              </a:rPr>
              <a:t>Логистика и каналы продаж</a:t>
            </a:r>
            <a:endParaRPr b="1" sz="20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81000" y="647425"/>
            <a:ext cx="3461400" cy="41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На основе </a:t>
            </a: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почасового графика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 мы видим два ярко выраженных пика спроса:</a:t>
            </a:r>
            <a:r>
              <a:rPr lang="ru" sz="1300">
                <a:solidFill>
                  <a:schemeClr val="dk1"/>
                </a:solidFill>
              </a:rPr>
              <a:t> 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Обеденный пик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(12:00–14:00) — высокий спрос (до 17 заказов в час).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Ночной пик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(23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:00–00:00) — высокий спрос (до 19 заказов в час).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Днем стабильный поток клиентов — </a:t>
            </a: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12-13 заказов в час.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Инсайт: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 Утром (до 11:00) спрос минимален. </a:t>
            </a: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Ночной пик говорит о том, что клиенты заказывают пиццу после вечеринок или поздних возвращений домой. Это отличная возможность для продвижения.</a:t>
            </a:r>
            <a:r>
              <a:rPr lang="ru" sz="1300">
                <a:solidFill>
                  <a:schemeClr val="dk1"/>
                </a:solidFill>
              </a:rPr>
              <a:t> </a:t>
            </a: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2388" y="1022652"/>
            <a:ext cx="5520600" cy="3098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0" l="0" r="51033" t="0"/>
          <a:stretch/>
        </p:blipFill>
        <p:spPr>
          <a:xfrm>
            <a:off x="3542401" y="2917325"/>
            <a:ext cx="2703275" cy="1217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2690700" y="232043"/>
            <a:ext cx="3762600" cy="47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1200"/>
              </a:spcAft>
              <a:buSzPts val="1100"/>
              <a:buNone/>
            </a:pPr>
            <a:r>
              <a:rPr b="1" lang="ru" sz="2000">
                <a:solidFill>
                  <a:srgbClr val="0F1115"/>
                </a:solidFill>
                <a:highlight>
                  <a:srgbClr val="FFFFFF"/>
                </a:highlight>
              </a:rPr>
              <a:t>Логистика и каналы продаж</a:t>
            </a:r>
            <a:endParaRPr b="1" sz="20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81013" y="1022652"/>
            <a:ext cx="3461400" cy="30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Аудитория предпочитает доставку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— на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нее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 приходится 66% заказов. </a:t>
            </a: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Доставка – 119 </a:t>
            </a: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Самовывоз – 61.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Это подтверждает, что </a:t>
            </a: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курьерская служба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— </a:t>
            </a: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ключевой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 актив бизнеса, но требует вложений. Нужно разгружать курьеров в пик и мотивировать самовывоз.</a:t>
            </a:r>
            <a:r>
              <a:rPr lang="ru" sz="1300">
                <a:solidFill>
                  <a:schemeClr val="dk1"/>
                </a:solidFill>
              </a:rPr>
              <a:t> </a:t>
            </a: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b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</a:rPr>
              <a:t>Рекомендация: </a:t>
            </a:r>
            <a:r>
              <a:rPr lang="ru" sz="1300">
                <a:solidFill>
                  <a:srgbClr val="0F1115"/>
                </a:solidFill>
                <a:highlight>
                  <a:srgbClr val="FFFFFF"/>
                </a:highlight>
              </a:rPr>
              <a:t>Для балансировки спроса можно запустить промокод на 5-10% скидку при самовывозе, чтобы экономить на логистике.</a:t>
            </a:r>
            <a:r>
              <a:rPr lang="ru" sz="1300">
                <a:solidFill>
                  <a:schemeClr val="dk1"/>
                </a:solidFill>
              </a:rPr>
              <a:t> </a:t>
            </a:r>
            <a:endParaRPr sz="13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2388" y="1022652"/>
            <a:ext cx="5520600" cy="3098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4">
            <a:alphaModFix/>
          </a:blip>
          <a:srcRect b="0" l="48967" r="0" t="0"/>
          <a:stretch/>
        </p:blipFill>
        <p:spPr>
          <a:xfrm>
            <a:off x="6245674" y="2917325"/>
            <a:ext cx="2817325" cy="1217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2631150" y="240900"/>
            <a:ext cx="388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rgbClr val="0F1115"/>
                </a:solidFill>
                <a:highlight>
                  <a:srgbClr val="FFFFFF"/>
                </a:highlight>
              </a:rPr>
              <a:t>Выводы и решения. Часть 1</a:t>
            </a:r>
            <a:endParaRPr b="1" sz="20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aphicFrame>
        <p:nvGraphicFramePr>
          <p:cNvPr id="93" name="Google Shape;93;p18"/>
          <p:cNvGraphicFramePr/>
          <p:nvPr/>
        </p:nvGraphicFramePr>
        <p:xfrm>
          <a:off x="582375" y="10545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{DE94A06E-2BFA-4C19-A662-1591A457BDB2}</a:tableStyleId>
              </a:tblPr>
              <a:tblGrid>
                <a:gridCol w="2480800"/>
                <a:gridCol w="2421350"/>
                <a:gridCol w="3077100"/>
              </a:tblGrid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Показатель</a:t>
                      </a:r>
                      <a:endParaRPr b="1" sz="15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Значение</a:t>
                      </a:r>
                      <a:endParaRPr b="1" sz="15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Статус</a:t>
                      </a:r>
                      <a:endParaRPr b="1" sz="15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Общая выручка (май-июнь)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90 040 руб.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✅ Базовый уровень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Средний чек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500 руб.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✅ Хороший, но есть потенциал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Доля пиццы в выручке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69%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🔥 Ядро бизнеса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Доля доставки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66%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🛵 Ключевой канал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Пиковые часы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12:00–14:00 и 22:00–00:00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152400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⏰ Требуют усиления</a:t>
                      </a:r>
                      <a:endParaRPr sz="13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95250" marR="91425" marL="1524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2631150" y="240900"/>
            <a:ext cx="388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0F1115"/>
                </a:solidFill>
                <a:highlight>
                  <a:srgbClr val="FFFFFF"/>
                </a:highlight>
              </a:rPr>
              <a:t>Выводы и решения. Часть 2</a:t>
            </a:r>
            <a:endParaRPr b="1" sz="20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9" name="Google Shape;99;p19"/>
          <p:cNvSpPr txBox="1"/>
          <p:nvPr/>
        </p:nvSpPr>
        <p:spPr>
          <a:xfrm>
            <a:off x="415050" y="963300"/>
            <a:ext cx="8313900" cy="3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Основной драйвер выручки — пицца, на которую приходится 69% всех продаж.</a:t>
            </a:r>
            <a:r>
              <a:rPr lang="ru">
                <a:solidFill>
                  <a:schemeClr val="dk1"/>
                </a:solidFill>
              </a:rPr>
              <a:t> 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Удержание качества и разнообразия пицц является критическим фактором для сохранения текущего уровня доходов.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400"/>
              <a:buChar char="●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Десерты и салаты занимают незначительную долю в структуре заказов — </a:t>
            </a:r>
            <a:b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6% и 12% соответственно. </a:t>
            </a:r>
            <a:b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Комбинирование пиццы с десертом в рамках одной акции может повысить средний чек без привлечения новых клиентов.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115"/>
              </a:buClr>
              <a:buSzPts val="1400"/>
              <a:buChar char="●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Стимулирование самовывоза через скидки или бонусы способно снизить нагрузку на курьеров и повысить маржинальность заказа.</a:t>
            </a:r>
            <a:endParaRPr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1000"/>
              </a:spcAft>
              <a:buClr>
                <a:srgbClr val="0F1115"/>
              </a:buClr>
              <a:buSzPts val="1400"/>
              <a:buChar char="●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</a:rPr>
              <a:t>Обеденный пик указывает на необходимость усиления кухни в эти часы для сокращения времени ожидания. Ночной пик, напротив, открывает возможность для целевого продвижения — например, специального предложения для вечерней аудитории.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